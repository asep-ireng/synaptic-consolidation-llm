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740ab5f5ee4fc2" /><Relationship Type="http://schemas.openxmlformats.org/officeDocument/2006/relationships/extended-properties" Target="/docProps/app.xml" Id="Rd7bd8de79fa84abb" /><Relationship Type="http://schemas.openxmlformats.org/officeDocument/2006/relationships/officeDocument" Target="/ppt/presentation.xml" Id="R23f7423b87b148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2baa7893d34cb3"/>
  </p:sldMasterIdLst>
  <p:notesMasterIdLst>
    <p:notesMasterId xmlns:r="http://schemas.openxmlformats.org/officeDocument/2006/relationships" r:id="R55daee80787843fa"/>
  </p:notesMasterIdLst>
  <p:sldIdLst>
    <p:sldId xmlns:r="http://schemas.openxmlformats.org/officeDocument/2006/relationships" id="256" r:id="Ra4a2a67f41244ece"/>
    <p:sldId xmlns:r="http://schemas.openxmlformats.org/officeDocument/2006/relationships" id="257" r:id="R95520fd2c6d54b77"/>
    <p:sldId xmlns:r="http://schemas.openxmlformats.org/officeDocument/2006/relationships" id="258" r:id="Rdb4df79cb6e642e0"/>
    <p:sldId xmlns:r="http://schemas.openxmlformats.org/officeDocument/2006/relationships" id="259" r:id="Rc6ce0a9c1ddd45bb"/>
    <p:sldId xmlns:r="http://schemas.openxmlformats.org/officeDocument/2006/relationships" id="260" r:id="R916454ebbb484243"/>
    <p:sldId xmlns:r="http://schemas.openxmlformats.org/officeDocument/2006/relationships" id="261" r:id="Rfb455d7e6b45438e"/>
    <p:sldId xmlns:r="http://schemas.openxmlformats.org/officeDocument/2006/relationships" id="262" r:id="R4ac38572c7334921"/>
    <p:sldId xmlns:r="http://schemas.openxmlformats.org/officeDocument/2006/relationships" id="263" r:id="R08c5efa0ba534dc5"/>
    <p:sldId xmlns:r="http://schemas.openxmlformats.org/officeDocument/2006/relationships" id="264" r:id="R3221412a16ef4a4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7dc1a511354a01" /><Relationship Type="http://schemas.openxmlformats.org/officeDocument/2006/relationships/slideMaster" Target="/ppt/slideMasters/slideMaster1.xml" Id="Rfe2baa7893d34cb3" /><Relationship Type="http://schemas.openxmlformats.org/officeDocument/2006/relationships/notesMaster" Target="/ppt/notesMasters/notesMaster1.xml" Id="R55daee80787843fa" /><Relationship Type="http://schemas.openxmlformats.org/officeDocument/2006/relationships/presProps" Target="/ppt/presProps.xml" Id="R20e1538dbc3c4312" /><Relationship Type="http://schemas.openxmlformats.org/officeDocument/2006/relationships/tableStyles" Target="/ppt/tableStyles.xml" Id="Ra41611c8832744dc" /><Relationship Type="http://schemas.openxmlformats.org/officeDocument/2006/relationships/slide" Target="/ppt/slides/slide1.xml" Id="Ra4a2a67f41244ece" /><Relationship Type="http://schemas.openxmlformats.org/officeDocument/2006/relationships/slide" Target="/ppt/slides/slide2.xml" Id="R95520fd2c6d54b77" /><Relationship Type="http://schemas.openxmlformats.org/officeDocument/2006/relationships/slide" Target="/ppt/slides/slide3.xml" Id="Rdb4df79cb6e642e0" /><Relationship Type="http://schemas.openxmlformats.org/officeDocument/2006/relationships/slide" Target="/ppt/slides/slide4.xml" Id="Rc6ce0a9c1ddd45bb" /><Relationship Type="http://schemas.openxmlformats.org/officeDocument/2006/relationships/slide" Target="/ppt/slides/slide5.xml" Id="R916454ebbb484243" /><Relationship Type="http://schemas.openxmlformats.org/officeDocument/2006/relationships/slide" Target="/ppt/slides/slide6.xml" Id="Rfb455d7e6b45438e" /><Relationship Type="http://schemas.openxmlformats.org/officeDocument/2006/relationships/slide" Target="/ppt/slides/slide7.xml" Id="R4ac38572c7334921" /><Relationship Type="http://schemas.openxmlformats.org/officeDocument/2006/relationships/slide" Target="/ppt/slides/slide8.xml" Id="R08c5efa0ba534dc5" /><Relationship Type="http://schemas.openxmlformats.org/officeDocument/2006/relationships/slide" Target="/ppt/slides/slide9.xml" Id="R3221412a16ef4a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db52d0606b4a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36db87ca7b47d0" /><Relationship Type="http://schemas.openxmlformats.org/officeDocument/2006/relationships/notesMaster" Target="/ppt/notesMasters/notesMaster1.xml" Id="R9f4b6e34a1af42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238e10b9e349a1" /><Relationship Type="http://schemas.openxmlformats.org/officeDocument/2006/relationships/notesMaster" Target="/ppt/notesMasters/notesMaster1.xml" Id="R33e3e148807c45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fd30ab103b4347" /><Relationship Type="http://schemas.openxmlformats.org/officeDocument/2006/relationships/notesMaster" Target="/ppt/notesMasters/notesMaster1.xml" Id="R3bad2438372841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49e2f830d04c34" /><Relationship Type="http://schemas.openxmlformats.org/officeDocument/2006/relationships/notesMaster" Target="/ppt/notesMasters/notesMaster1.xml" Id="Rd74b8b37bafc48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ecf3ae01ae42ed" /><Relationship Type="http://schemas.openxmlformats.org/officeDocument/2006/relationships/notesMaster" Target="/ppt/notesMasters/notesMaster1.xml" Id="R2fdc0ae5678c4f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6784eb61ea4ed6" /><Relationship Type="http://schemas.openxmlformats.org/officeDocument/2006/relationships/notesMaster" Target="/ppt/notesMasters/notesMaster1.xml" Id="Rb7e3cb10cf0541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dbe6832b2f489b" /><Relationship Type="http://schemas.openxmlformats.org/officeDocument/2006/relationships/notesMaster" Target="/ppt/notesMasters/notesMaster1.xml" Id="R99d7a1cf582140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895b06671df4b16" /><Relationship Type="http://schemas.openxmlformats.org/officeDocument/2006/relationships/notesMaster" Target="/ppt/notesMasters/notesMaster1.xml" Id="R541741ac974f47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3998cbf450494e" /><Relationship Type="http://schemas.openxmlformats.org/officeDocument/2006/relationships/notesMaster" Target="/ppt/notesMasters/notesMaster1.xml" Id="R346d83b3b5d844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2a9db80e3846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43c97174c4494d" /><Relationship Type="http://schemas.openxmlformats.org/officeDocument/2006/relationships/slideLayout" Target="/ppt/slideLayouts/slideLayout1.xml" Id="Rbee8babe3bab49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e8babe3bab49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c74d6c9e8e499f" /><Relationship Type="http://schemas.openxmlformats.org/officeDocument/2006/relationships/notesSlide" Target="/ppt/notesSlides/notesSlide1.xml" Id="R48ff8ce281e449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b3b065a9b4a8c" /><Relationship Type="http://schemas.openxmlformats.org/officeDocument/2006/relationships/notesSlide" Target="/ppt/notesSlides/notesSlide2.xml" Id="Rfd6605a905a144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533f55f824486" /><Relationship Type="http://schemas.openxmlformats.org/officeDocument/2006/relationships/notesSlide" Target="/ppt/notesSlides/notesSlide3.xml" Id="R0c8cb22d15d145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ce81411954dd7" /><Relationship Type="http://schemas.openxmlformats.org/officeDocument/2006/relationships/notesSlide" Target="/ppt/notesSlides/notesSlide4.xml" Id="Rb782a50ee0e444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946fe3b4a467e" /><Relationship Type="http://schemas.openxmlformats.org/officeDocument/2006/relationships/notesSlide" Target="/ppt/notesSlides/notesSlide5.xml" Id="Rbadd492b1e5741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00c6115bd45ad" /><Relationship Type="http://schemas.openxmlformats.org/officeDocument/2006/relationships/notesSlide" Target="/ppt/notesSlides/notesSlide6.xml" Id="Rb9fdbc92a47d48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158a06d9a492b" /><Relationship Type="http://schemas.openxmlformats.org/officeDocument/2006/relationships/notesSlide" Target="/ppt/notesSlides/notesSlide7.xml" Id="R3cccb941f4104e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3595d5b6c45ca" /><Relationship Type="http://schemas.openxmlformats.org/officeDocument/2006/relationships/notesSlide" Target="/ppt/notesSlides/notesSlide8.xml" Id="R6cd0f4a091e747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126d59e8b48fa" /><Relationship Type="http://schemas.openxmlformats.org/officeDocument/2006/relationships/notesSlide" Target="/ppt/notesSlides/notesSlide9.xml" Id="R9f7339ed9fa34c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FE8C94-C8ED-4BAA-BC0A-F7DA9984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BIO-INSPIRED CONTINUAL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1BA4FB-E63A-4D90-A1CA-4E329D2B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</a:defRPr>
            </a:pPr>
            <a:r>
              <a:rPr sz="5400" b="1">
                <a:solidFill>
                  <a:srgbClr val="111111"/>
                </a:solidFill>
              </a:rPr>
              <a:t>LivingLLM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4B5BF-AA34-4103-9997-649CB66A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5A5A"/>
                </a:solidFill>
              </a:defRPr>
            </a:pPr>
            <a:r>
              <a:rPr sz="1950" b="0">
                <a:solidFill>
                  <a:srgbClr val="5A5A5A"/>
                </a:solidFill>
              </a:rPr>
              <a:t>A wake / sleep architecture for synaptic consolidation in LLMs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A3C02-4D74-44F7-A88D-4742BA95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4000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F8719-1A19-4FC7-A830-239152F9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Core idea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47060-416F-4E99-86DC-78FF37EE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4250"/>
            <a:ext cx="514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Learn quickly in a plastic short-term adapter.</a:t>
            </a:r>
          </a:p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Consolidate selectively into a stable long-term store.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6E761-B893-47CC-9D32-81B70B11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4300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8E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9EBDC-6471-4799-8071-AC7C576D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7D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80BE0A-6473-4B64-8DA4-E2B939E6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859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STM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5C375-6E92-41C6-ACC1-AE1754E7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241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A5A5A"/>
                </a:solidFill>
              </a:defRPr>
            </a:pPr>
            <a:r>
              <a:rPr sz="1200" b="0">
                <a:solidFill>
                  <a:srgbClr val="5A5A5A"/>
                </a:solidFill>
              </a:rPr>
              <a:t>fast / plastic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CCF89-4A28-42CE-B731-4B8407D4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242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LTM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0C284-94B2-4C32-B3E7-F1D5F010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62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A5A5A"/>
                </a:solidFill>
              </a:defRPr>
            </a:pPr>
            <a:r>
              <a:rPr sz="1200" b="0">
                <a:solidFill>
                  <a:srgbClr val="5A5A5A"/>
                </a:solidFill>
              </a:rPr>
              <a:t>slow / stable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93CB4-484C-45C6-97C8-89E95266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241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C75AF6-AE91-476B-8E78-47E22AC6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5A5A"/>
                </a:solidFill>
              </a:defRPr>
            </a:pPr>
            <a:r>
              <a:rPr sz="1050" b="1">
                <a:solidFill>
                  <a:srgbClr val="5A5A5A"/>
                </a:solidFill>
              </a:rPr>
              <a:t>Architecture overview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F572A-09B1-4CCF-9437-385394A8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1912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5A5A"/>
                </a:solidFill>
              </a:defRPr>
            </a:pPr>
            <a:r>
              <a:rPr sz="1050" b="0">
                <a:solidFill>
                  <a:srgbClr val="5A5A5A"/>
                </a:solidFill>
              </a:rPr>
              <a:t>Research architecture deck</a:t>
            </a:r>
          </a:p>
        </p:txBody>
      </p:sp>
    </p:spTree>
    <p:extLst>
      <p:ext uri="{BB962C8B-B14F-4D97-AF65-F5344CB8AC3E}">
        <p14:creationId xmlns:p14="http://schemas.microsoft.com/office/powerpoint/2010/main" val="4659761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0C4C98-EF19-4740-9A58-CC9AA4F8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01 / 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43CD7-754D-459A-B9EE-EF3E9897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The model must learn new facts without rewriting old 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EA5DC-3691-460B-9809-DDC93C58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</a:defRPr>
            </a:pPr>
            <a:r>
              <a:rPr sz="1425" b="0">
                <a:solidFill>
                  <a:srgbClr val="5A5A5A"/>
                </a:solidFill>
              </a:rPr>
              <a:t>Continual learning exposes a tension between plasticity and stability.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119B3-25A0-4EA3-B6E3-B3CA225D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EDAA4-FF48-4D65-8BF6-527633E0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WAKE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5B153-DBCA-4DEB-9EDB-05336102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New information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arrives continuously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962B0-2E88-47E2-B044-A4C4ED57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5A5A"/>
                </a:solidFill>
              </a:defRPr>
            </a:pPr>
            <a:r>
              <a:rPr sz="1200" b="0">
                <a:solidFill>
                  <a:srgbClr val="5A5A5A"/>
                </a:solidFill>
              </a:rPr>
              <a:t>High plasticity is useful — but fast updates can overwrite prior knowledge.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B10E9-D2B0-436A-8182-AC7D5077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337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35ADA-D653-4C4E-82D0-538560E4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24100"/>
            <a:ext cx="3333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BEEA2-03D8-4628-AF94-B7C15C48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09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FAILURE MODE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E221E-E27E-43D5-82D1-60A005EE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861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Catastrophic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forgetting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4ABFE-75B1-4F55-AA11-5EEA0C00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005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2D2D2"/>
                </a:solidFill>
              </a:defRPr>
            </a:pPr>
            <a:r>
              <a:rPr sz="1200" b="0">
                <a:solidFill>
                  <a:srgbClr val="D2D2D2"/>
                </a:solidFill>
              </a:rPr>
              <a:t>The newest task dominates the representation, degrading older skills and facts.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536E0-374F-434B-9902-8DE1B9B4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13FDA-6568-41CE-85FB-850D7AED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24100"/>
            <a:ext cx="1981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95989-6075-4426-AAAE-4914F71A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09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DESIGN BET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D5F87-43E9-49A8-9191-71F63BA6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086100"/>
            <a:ext cx="1428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Separate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fast and slow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9EC72-654B-4F41-A6AA-5F6C5DA7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Biological analogy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3E663C-5492-4703-8624-B9F03D95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Hippocampus learns quickly; cortex stores what survives consolidation.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8AF2F5-47DA-4145-B633-199A590B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1391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ED85AA-7EBA-4A1A-BF27-C09FFBD4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5A5A"/>
                </a:solidFill>
              </a:defRPr>
            </a:pPr>
            <a:r>
              <a:rPr sz="900" b="1">
                <a:solidFill>
                  <a:srgbClr val="5A5A5A"/>
                </a:solidFill>
              </a:rPr>
              <a:t>LIVINGLLM / MOTIVATION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5C3B9-F908-49BB-B5D6-7BE8655C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5A5A"/>
                </a:solidFill>
              </a:defRPr>
            </a:pPr>
            <a:r>
              <a:rPr sz="900" b="1">
                <a:solidFill>
                  <a:srgbClr val="5A5A5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99663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893174-05AC-4A4D-B373-675AA9FA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02 / 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BF4D4-8324-487B-9356-0D47B330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One model, two memory timescales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74D718-B359-4453-A72C-D9A2925B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</a:defRPr>
            </a:pPr>
            <a:r>
              <a:rPr sz="1425" b="0">
                <a:solidFill>
                  <a:srgbClr val="5A5A5A"/>
                </a:solidFill>
              </a:rPr>
              <a:t>Wake handles interaction. Sleep decides what becomes durable.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58166-174C-4B96-BADD-A3988C0A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241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0F6B1-42CF-4C74-B1DE-7AB11880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41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0AF36-2501-4604-915A-8EE9940A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2CF14-A6D7-446D-BC42-AFBC650B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241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5F4E5-DEE7-45BD-B225-C99DBCAC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243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4F72E-8FB4-469D-854A-5C943A87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67300"/>
            <a:ext cx="104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BE938-0FEE-44E5-A5CF-A55451CB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5D464-E466-460E-B633-5F9ABBF2F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33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User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9AF35-8F88-4F1C-A0C6-5D376E32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717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D44908-1813-4955-84FF-5B84665E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381250"/>
            <a:ext cx="133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Frozen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base LLM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C2226-6550-4BFB-84D6-531C9031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71700"/>
            <a:ext cx="1638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EB089-2A3C-4AEC-9BE6-55C443F8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163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STM LoRA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4A65F3-71FC-4482-8FB8-DDA0168A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71700"/>
            <a:ext cx="133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35F41-1D84-4E61-AF49-B904DAFB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81250"/>
            <a:ext cx="133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CC3A5D-6576-4031-BAD5-AC5CCB1D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71700"/>
            <a:ext cx="228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824CF-2523-44F6-A860-BA48FC74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LTM / consolidated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E9C4F4-3D35-4AC2-A2E7-9A98EBA1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WAKE / ACTIVE CONTINUAL LEARNING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1FAC72-61E2-49D4-8114-3787EBF1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1125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B63FC4-AC0A-446B-98BF-2FA1C6FC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SLEEP / CONSOLIDATION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533D56-6A81-415F-83EB-2951E5AB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BDD42B-ED6D-4A29-8C11-6FF5F70A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Replay buffer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F74839-B668-45AA-8FB9-08062A64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5A5A"/>
                </a:solidFill>
              </a:defRPr>
            </a:pPr>
            <a:r>
              <a:rPr sz="1050" b="0">
                <a:solidFill>
                  <a:srgbClr val="5A5A5A"/>
                </a:solidFill>
              </a:rPr>
              <a:t>recent inputs + loss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A7717F-4D42-483C-9D79-A5646FA7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434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FD4F78-D673-4EB2-88CC-E8436FA7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Dream + verify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95ECE2-C365-45B3-88F2-6DEAD46D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57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5A5A"/>
                </a:solidFill>
              </a:defRPr>
            </a:pPr>
            <a:r>
              <a:rPr sz="1050" b="0">
                <a:solidFill>
                  <a:srgbClr val="5A5A5A"/>
                </a:solidFill>
              </a:rPr>
              <a:t>replay with critic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CDBF32-0E16-4E50-A98C-1B0B8893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434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18E5F8-8A63-43BE-BA0D-D5A4A8C8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52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Prune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B916C9-D339-41CB-82EB-36F97EE0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57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importance-aware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4FC640-ADF4-4FFB-A323-D46FF43D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434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05C983-726D-4646-B0DA-7525008C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52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EMA merge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55C083-E57E-4D35-B665-0250BF18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57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A5A5A"/>
                </a:solidFill>
              </a:defRPr>
            </a:pPr>
            <a:r>
              <a:rPr sz="1050" b="0">
                <a:solidFill>
                  <a:srgbClr val="5A5A5A"/>
                </a:solidFill>
              </a:rPr>
              <a:t>STM → LTM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60E265-FC77-44FA-B624-0DF221F6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The loop closes when the consolidated state becomes the next wake baseline.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F92AA3-9748-48E5-A38E-7487B6F4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1391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D3D424-1DDB-4916-899E-A8474AC3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5A5A"/>
                </a:solidFill>
              </a:defRPr>
            </a:pPr>
            <a:r>
              <a:rPr sz="900" b="1">
                <a:solidFill>
                  <a:srgbClr val="5A5A5A"/>
                </a:solidFill>
              </a:rPr>
              <a:t>LIVINGLLM / ARCHITECTURE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1BAD1B-D9D9-4498-8B37-14CC13B4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5A5A"/>
                </a:solidFill>
              </a:defRPr>
            </a:pPr>
            <a:r>
              <a:rPr sz="900" b="1">
                <a:solidFill>
                  <a:srgbClr val="5A5A5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242890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9F2298-AF11-4DA5-BDA2-5B6AF433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03 / WAKE 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CEC41-BFE1-49C9-9CA2-2F6E90C8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The STM adapter absorbs new information quickly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A84F4-64E4-4E2A-AC9C-7A467329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</a:defRPr>
            </a:pPr>
            <a:r>
              <a:rPr sz="1425" b="0">
                <a:solidFill>
                  <a:srgbClr val="5A5A5A"/>
                </a:solidFill>
              </a:rPr>
              <a:t>The base model stays frozen while a high-rank LoRA adapter handles rapid updates.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B0A44-F045-488E-9E02-3B78B8E1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68580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F2FC2-5852-4AB2-8B1E-867AF43E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ACTIVE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FC3EF1-F377-4172-9CB9-30B0F45E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71D64-23B7-4471-B49E-32D79EA5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3598C-634A-4644-9FEF-69ECEEFA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A5A5A"/>
                </a:solidFill>
              </a:defRPr>
            </a:pPr>
            <a:r>
              <a:rPr sz="975" b="0">
                <a:solidFill>
                  <a:srgbClr val="5A5A5A"/>
                </a:solidFill>
              </a:rPr>
              <a:t>new stream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0DC6A-2A30-4D26-BBA0-96BC80E2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F48D3-4FFF-46BD-9E25-4B5757C0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ECAC5E-0131-42FE-8913-8B308DE5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76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4EB76-D2E3-463B-8050-2B1EDFDB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00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A5A5A"/>
                </a:solidFill>
              </a:defRPr>
            </a:pPr>
            <a:r>
              <a:rPr sz="975" b="0">
                <a:solidFill>
                  <a:srgbClr val="5A5A5A"/>
                </a:solidFill>
              </a:rPr>
              <a:t>frozen LLM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3E864-4F80-4D26-BB29-9BAE9A15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004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7BC03-FF80-4221-9238-80AB77EF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318A1-9436-454F-8C01-AE77798F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76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STM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648DE7-79F0-41DB-A452-58876C91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00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A5A5A"/>
                </a:solidFill>
              </a:defRPr>
            </a:pPr>
            <a:r>
              <a:rPr sz="975" b="0">
                <a:solidFill>
                  <a:srgbClr val="5A5A5A"/>
                </a:solidFill>
              </a:rPr>
              <a:t>high-rank LoRA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D5E511-2D4F-4985-AC66-65D0709B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00425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0E256-9FD4-418C-8932-D3FD333D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1E05B5-B7B9-40D4-A8A8-330476C5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Output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5F9BCC-92A4-4DB8-A9DD-618337B0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04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A5A5A"/>
                </a:solidFill>
              </a:defRPr>
            </a:pPr>
            <a:r>
              <a:rPr sz="975" b="0">
                <a:solidFill>
                  <a:srgbClr val="5A5A5A"/>
                </a:solidFill>
              </a:rPr>
              <a:t>generated 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8A70B4-0786-4F46-A95A-E426192E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Learning 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91A955-37D4-4FC8-88CF-B0B357C6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1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High learning rate → fast adaptation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859920-755C-40E6-9B1A-5169DF42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Why LoRA?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7877E6-724F-4EF7-96C3-7A0B94BF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429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382DBA-1F60-4BBE-B158-EA25932E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342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Keeps the backbone stable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Limits trainable parameters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Gives wake learning a bounded workspace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• Can be reset after consolidation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3F4369-9144-4068-9360-A79FA8EBD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95850"/>
            <a:ext cx="18097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E6CAAA-6E9D-497B-A32D-7A2CF882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053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IMPLEMENTED CONCEPT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F6A9C0-5282-40CE-A43F-DD0D92AA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768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5A5A"/>
                </a:solidFill>
              </a:defRPr>
            </a:pPr>
            <a:r>
              <a:rPr sz="1200" b="0">
                <a:solidFill>
                  <a:srgbClr val="5A5A5A"/>
                </a:solidFill>
              </a:rPr>
              <a:t>Current code uses a single LoRA adapter; dual STM/LTM separation is the next architectural step.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A42C69-3C9C-44EB-9614-53542578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1391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BE21B9-CCB5-4136-A767-53B4D7C4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5A5A"/>
                </a:solidFill>
              </a:defRPr>
            </a:pPr>
            <a:r>
              <a:rPr sz="900" b="1">
                <a:solidFill>
                  <a:srgbClr val="5A5A5A"/>
                </a:solidFill>
              </a:rPr>
              <a:t>LIVINGLLM / WAKE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2A8B11-615D-4FBE-8357-73500059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5A5A"/>
                </a:solidFill>
              </a:defRPr>
            </a:pPr>
            <a:r>
              <a:rPr sz="900" b="1">
                <a:solidFill>
                  <a:srgbClr val="5A5A5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62581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220438-9960-485A-A53A-D9109123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04 / SLEEP PHASE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27D50-1AFC-4D13-AE6A-1E5E8C44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Sleep turns noisy short-term updates into durable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9B282-D790-4627-B366-DE86359D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</a:defRPr>
            </a:pPr>
            <a:r>
              <a:rPr sz="1425" b="0">
                <a:solidFill>
                  <a:srgbClr val="5A5A5A"/>
                </a:solidFill>
              </a:rPr>
              <a:t>Each stage addresses a different failure mode in continual learning.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768CB-5BDE-4C5F-9475-171EC8DB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8C946-2F03-4D50-AEFD-05D24DC3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963FD-417A-4C49-9992-DCB876BD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908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DREAM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45C343-56B2-4A7B-905B-2F580319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5A5A"/>
                </a:solidFill>
              </a:defRPr>
            </a:pPr>
            <a:r>
              <a:rPr sz="1200" b="0">
                <a:solidFill>
                  <a:srgbClr val="5A5A5A"/>
                </a:solidFill>
              </a:rPr>
              <a:t>Generate candidate replay from recent topics.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60D51-B244-4165-A5E0-8C70122B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766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2796D8-306D-4C66-B575-0CA680C6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0030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D817D-0523-4D3C-9B77-2D3F98C5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71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ADFE7-526B-44BC-993D-20047E4D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908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VERIFY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D7D53-BD6E-4F5B-94BE-930131AD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0520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5A5A"/>
                </a:solidFill>
              </a:defRPr>
            </a:pPr>
            <a:r>
              <a:rPr sz="1200" b="0">
                <a:solidFill>
                  <a:srgbClr val="5A5A5A"/>
                </a:solidFill>
              </a:rPr>
              <a:t>A frozen critic rewards coherent, consistent dreams.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E2E2B7-B276-4D00-806B-58100E89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766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E9519-BF2B-4B03-8897-34B2A68D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CBE7CB-CC6E-42BE-9B64-6E1C6795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0F8ED-85BA-409C-B3DE-AE4B48C5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908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PRUNE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2927DC-BB51-45DC-9898-DBA80BAC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0520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Fisher sensitivity protects small-but-critical weights.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415302-F11C-48A6-84FC-4D2F4FAA7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81A72-0218-48BB-837A-10EF60A1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0030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3FE55A-1853-4C2C-B122-7C22EF87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0B8BE7-C75A-4FFB-A672-C39B5BB6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908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MERGE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F075B-B8B5-4AB7-940D-A6FBD6AD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0520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5A5A"/>
                </a:solidFill>
              </a:defRPr>
            </a:pPr>
            <a:r>
              <a:rPr sz="1200" b="0">
                <a:solidFill>
                  <a:srgbClr val="5A5A5A"/>
                </a:solidFill>
              </a:rPr>
              <a:t>EMA transfers surviving STM weights into LTM.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1945C3-D2C7-4E69-81F9-D28ED8FE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766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8B0F8E-659C-4AC8-9CA2-D2E2DA08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00300"/>
            <a:ext cx="2095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B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51957D-E3F8-43DE-B8C4-844851AE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717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873216-55A1-4112-A6EF-A1203AFD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908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RESET + WARM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29F77A-7FDF-4109-9860-C647464F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0520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5A5A"/>
                </a:solidFill>
              </a:defRPr>
            </a:pPr>
            <a:r>
              <a:rPr sz="1200" b="0">
                <a:solidFill>
                  <a:srgbClr val="5A5A5A"/>
                </a:solidFill>
              </a:rPr>
              <a:t>Reset STM, reload LTM, calibrate the new baseline.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F05663-03BE-40AA-8C77-B4317ED2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Consolidation rule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FAAFA3-1D66-41A6-B892-97026F94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863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LTM ← LTM × (1 − r) + STM × 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90A074-A7EC-4C75-97C3-922D185D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5A5A"/>
                </a:solidFill>
              </a:defRPr>
            </a:pPr>
            <a:r>
              <a:rPr sz="1350" b="0">
                <a:solidFill>
                  <a:srgbClr val="5A5A5A"/>
                </a:solidFill>
              </a:rPr>
              <a:t>The merge rate controls how much of the fast learner survives each sleep cycle.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A7AFD8-598E-479B-9167-9F415658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1391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00FD45-AACB-4B2E-BEAA-5AA8BCA0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5A5A"/>
                </a:solidFill>
              </a:defRPr>
            </a:pPr>
            <a:r>
              <a:rPr sz="900" b="1">
                <a:solidFill>
                  <a:srgbClr val="5A5A5A"/>
                </a:solidFill>
              </a:rPr>
              <a:t>LIVINGLLM / SLEEP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444333-9E32-4438-B12B-8D9156B9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5A5A"/>
                </a:solidFill>
              </a:defRPr>
            </a:pPr>
            <a:r>
              <a:rPr sz="900" b="1">
                <a:solidFill>
                  <a:srgbClr val="5A5A5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507561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7B0CED-2F84-4B17-9A0C-B884FBBA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05 / DESIGN RISKS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E83B5-B5B0-4C10-BDBD-A6B34A19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The architecture is promising — but the sleep loop must be disciplined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66D28-37BD-472E-9411-6D3DCAF8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</a:defRPr>
            </a:pPr>
            <a:r>
              <a:rPr sz="1425" b="0">
                <a:solidFill>
                  <a:srgbClr val="5A5A5A"/>
                </a:solidFill>
              </a:rPr>
              <a:t>The audit identifies four places where a biologically inspired metaphor can fail in software.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8ABD3-9ECE-48EB-B0D9-E4C94040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RISK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ED4DF2-3D3F-48BF-AB67-70F2635F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WHY IT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112AE-21C1-4202-8A3B-8F1F581E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A5A5A"/>
                </a:solidFill>
              </a:defRPr>
            </a:pPr>
            <a:r>
              <a:rPr sz="975" b="1">
                <a:solidFill>
                  <a:srgbClr val="5A5A5A"/>
                </a:solidFill>
              </a:rPr>
              <a:t>ARCHITECTURAL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0ED27-8F12-41D6-81FD-ADF36A12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113919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A57805-51F1-4CBA-BC85-C51C8808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Self-reinforcing dreams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29E7A-F9D6-4010-A817-B95B1C4A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Train on model-generated noise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4755C-F0C5-4B97-9020-BCB28597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81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Replay real learned inputs + frozen reference / KL anchor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AC465-26F4-4AF5-8B35-2D44ECA7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90900"/>
            <a:ext cx="11391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C0A49B-A9B6-4330-8885-01BE244C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Blind magnitude pruning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7280A-4AD8-4C55-A1A7-A9B6E2B8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814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Small weights can be structurally critical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A644C-371F-4142-BB33-B8910D0E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814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Use Fisher-weighted sensitivity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A83E9-2B1D-48AB-8F9C-1E546951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11391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D602FC-5D20-4BDE-94AF-34995CB0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Momentum resurrection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A1B98F-CB10-4E88-A612-96187F4B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815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Adam states rebuild pruned weights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25921F-E6FB-4159-A2E5-3FA16FEF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Zero optimizer slices when masking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283128-7665-4F63-A773-B53A4168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11391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2BECEE-FB66-4771-A401-05A79351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Wake-up instability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91EE51-E0C8-4E3E-B170-9675A1D9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8160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5A5A"/>
                </a:solidFill>
              </a:defRPr>
            </a:pPr>
            <a:r>
              <a:rPr sz="1275" b="0">
                <a:solidFill>
                  <a:srgbClr val="5A5A5A"/>
                </a:solidFill>
              </a:rPr>
              <a:t>STM reset meets a shifted 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5D14DE-D4BD-472A-8468-04BDDE3C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81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Warm up and calibrate after LTM reload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5F8D93-B6FB-4C4F-809E-59E0A6DB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91200"/>
            <a:ext cx="11391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81231F-9332-46CA-941C-89F22DE6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14287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58FF5D-208D-4D29-A908-D82C058B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864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AUDIT TAKEAWAY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30F200-8A0C-4922-80CC-F3443C72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076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The core idea works only if replay is grounded and pruning is importance-aware.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B66208-2979-4FF4-BF4C-960EC0F7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1391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57C32A-7978-46D1-894E-01396FE1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5A5A"/>
                </a:solidFill>
              </a:defRPr>
            </a:pPr>
            <a:r>
              <a:rPr sz="900" b="1">
                <a:solidFill>
                  <a:srgbClr val="5A5A5A"/>
                </a:solidFill>
              </a:rPr>
              <a:t>LIVINGLLM / RISK CONTROL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7FED17-EAE7-43E1-A7AA-A15FC131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5A5A"/>
                </a:solidFill>
              </a:defRPr>
            </a:pPr>
            <a:r>
              <a:rPr sz="900" b="1">
                <a:solidFill>
                  <a:srgbClr val="5A5A5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263383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4B59F3-2C04-4701-B542-7596B6A2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06 / MEMORY DYNAMICS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01710-A276-4CE8-A469-8D5CAE51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Plasticity and stability are allocated to different modules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110CD7-5D8F-41E8-A5FC-32B013EE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</a:defRPr>
            </a:pPr>
            <a:r>
              <a:rPr sz="1425" b="0">
                <a:solidFill>
                  <a:srgbClr val="5A5A5A"/>
                </a:solidFill>
              </a:rPr>
              <a:t>The proposed separation creates a controllable information bottleneck.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35653-1A99-40F8-8219-B97B23EB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5048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06A9F-4F08-4C97-A3E4-2AE667D0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STM / HIPPOCAMPUS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F7A37-81D0-46B2-9814-35DE4BE6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Fast learner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F4A38-FD33-4E8B-9466-067B20C1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High rank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High learning rate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Wake-only activity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Reset after consolidation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F9DE4-45E6-41DC-B1A5-1924EA62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05050"/>
            <a:ext cx="5048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89932-5B27-46EB-80BB-41468686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LTM / CORTEX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BCF254-ECF0-4C89-BAFF-75CCB1E0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52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</a:defRPr>
            </a:pPr>
            <a:r>
              <a:rPr sz="2400" b="1">
                <a:solidFill>
                  <a:srgbClr val="111111"/>
                </a:solidFill>
              </a:rPr>
              <a:t>Stable store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15AE7-4026-46D1-A48C-EA31F0D7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00450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Low rank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Slow updates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Survives sleep cycles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Becomes the next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1F5AC-C13C-41AB-812B-E83CF9D3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909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29E301-D090-402C-9F82-C1CD2AD0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Design implication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C4B6B5-7464-4563-8155-572FF5AD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673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Only the information that survives verification, pruning, and EMA transfer becomes durable.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98FCD2-EFDA-4155-BA67-AE4963A7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1391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70AC1-F52A-406B-9855-A5DDA877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5A5A"/>
                </a:solidFill>
              </a:defRPr>
            </a:pPr>
            <a:r>
              <a:rPr sz="900" b="1">
                <a:solidFill>
                  <a:srgbClr val="5A5A5A"/>
                </a:solidFill>
              </a:rPr>
              <a:t>LIVINGLLM / MEMORY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A53097-8103-44F9-A9D1-D7359608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5A5A"/>
                </a:solidFill>
              </a:defRPr>
            </a:pPr>
            <a:r>
              <a:rPr sz="900" b="1">
                <a:solidFill>
                  <a:srgbClr val="5A5A5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519206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ED3E96-154C-4FC6-A012-5F9E82D1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35"/>
                </a:solidFill>
              </a:defRPr>
            </a:pPr>
            <a:r>
              <a:rPr sz="975" b="1">
                <a:solidFill>
                  <a:srgbClr val="FF6B35"/>
                </a:solidFill>
              </a:rPr>
              <a:t>07 /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5719B-01FA-46C9-AC1B-273D7706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1009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A continual-learning claim needs a retention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2F8B9-13B5-4B38-8464-BDDCE786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5A5A"/>
                </a:solidFill>
              </a:defRPr>
            </a:pPr>
            <a:r>
              <a:rPr sz="1425" b="0">
                <a:solidFill>
                  <a:srgbClr val="5A5A5A"/>
                </a:solidFill>
              </a:rPr>
              <a:t>The project is not validated by generation quality alone.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E1F27-66E8-4F79-A257-D699FF02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4762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258BFB-AB00-452E-8690-8A38C5CF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PROBE 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EF681-AB6B-452C-AC01-54D17CD4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Measure after every sleep cycle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DDF8A-EB9F-4C0D-A9F7-F9557B60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Per-task accuracy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Backward transfer (BWT)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Forward transfer (FWT)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Forgetting delta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• Plasticity vs stability trade-off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F3460-7685-47EF-A3F5-E673EBFD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66950"/>
            <a:ext cx="61341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32EBA9-FFCB-4C95-B454-64830135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52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ROADMAP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9D6F9-4A21-4F57-B5DD-B4E80123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146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Prioritize what makes the experiment credible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8F54D-4ED8-4460-8117-48CBB98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43300"/>
            <a:ext cx="5143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41EBA-0C23-40A8-B619-8C44C6D3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528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4F27A-733B-4300-B7DA-279DFC75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528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Episodic memory buffer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A3F2D-B97C-433C-AC02-DCFBB1E0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528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5A5A"/>
                </a:solidFill>
              </a:defRPr>
            </a:pPr>
            <a:r>
              <a:rPr sz="1125" b="0">
                <a:solidFill>
                  <a:srgbClr val="5A5A5A"/>
                </a:solidFill>
              </a:rPr>
              <a:t>Ground replay in what was actually learned.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07FBE9-9E44-4489-8BBA-1E36781F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43350"/>
            <a:ext cx="5143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AB8CF3-5E65-44CE-9BE1-2CFAAD44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528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P0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033FE-FEFC-49AA-AE49-C1C09D7C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528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Forgetting probes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6948A1-86C5-4297-98D0-6526FEAF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52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5A5A"/>
                </a:solidFill>
              </a:defRPr>
            </a:pPr>
            <a:r>
              <a:rPr sz="1125" b="0">
                <a:solidFill>
                  <a:srgbClr val="5A5A5A"/>
                </a:solidFill>
              </a:rPr>
              <a:t>Quantify retention instead of assuming it.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2A816B-9D84-4F84-997E-DEFA5C75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43400"/>
            <a:ext cx="5143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D8E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DFA99D-9873-429A-8EDC-279433F8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3529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P1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AA5625-5053-4D74-8C31-1C7551E5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529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Frozen reference + KL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04D3E1-A083-45F3-9136-EE1F73EE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529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5A5A"/>
                </a:solidFill>
              </a:defRPr>
            </a:pPr>
            <a:r>
              <a:rPr sz="1125" b="0">
                <a:solidFill>
                  <a:srgbClr val="5A5A5A"/>
                </a:solidFill>
              </a:rPr>
              <a:t>Anchor dreams against semantic drift.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4D569B-3F1E-43EB-882F-9584FE2C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43450"/>
            <a:ext cx="514350" cy="247650"/>
          </a:xfrm>
          <a:prstGeom xmlns:a="http://schemas.openxmlformats.org/drawingml/2006/main" prst="roundRect">
            <a:avLst>
              <a:gd name="adj" fmla="val 46154"/>
            </a:avLst>
          </a:prstGeom>
          <a:solidFill xmlns:a="http://schemas.openxmlformats.org/drawingml/2006/main">
            <a:srgbClr val="D8E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F34FB0-B3B5-468F-B711-EED70CBC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529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111"/>
                </a:solidFill>
              </a:defRPr>
            </a:pPr>
            <a:r>
              <a:rPr sz="900" b="1">
                <a:solidFill>
                  <a:srgbClr val="111111"/>
                </a:solidFill>
              </a:rPr>
              <a:t>P1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572815-4382-4B44-A828-9D5DA8DD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529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Dual LoRA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F04948-2FDE-4341-BB13-2E29635B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529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5A5A"/>
                </a:solidFill>
              </a:defRPr>
            </a:pPr>
            <a:r>
              <a:rPr sz="1125" b="0">
                <a:solidFill>
                  <a:srgbClr val="5A5A5A"/>
                </a:solidFill>
              </a:rPr>
              <a:t>Make STM/LTM separation structural.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98AFD0-F612-40A7-A514-4E945369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 good sleep cycle is one that improves retention without collapsing wake-time learning.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A55824-84E1-4758-A183-32FA53FA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113919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7192E9-1BFC-4EC6-9BFD-9500C3F8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A5A5A"/>
                </a:solidFill>
              </a:defRPr>
            </a:pPr>
            <a:r>
              <a:rPr sz="900" b="1">
                <a:solidFill>
                  <a:srgbClr val="5A5A5A"/>
                </a:solidFill>
              </a:rPr>
              <a:t>LIVINGLLM / EVALUATION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9D5604-1DE5-43DA-9121-B45B8B39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A5A5A"/>
                </a:solidFill>
              </a:defRPr>
            </a:pPr>
            <a:r>
              <a:rPr sz="900" b="1">
                <a:solidFill>
                  <a:srgbClr val="5A5A5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41775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424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AEBD96-A956-434D-AA4F-8C58B262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THE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377D7-A283-44D2-84A9-0EE255A0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23950"/>
            <a:ext cx="723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Continual learning needs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a memory architecture,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not just a bigger update.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0484C-88DE-45EE-B810-8EE2E9E3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77777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6027D-32EB-4884-8411-440B5B12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2D2D2"/>
                </a:solidFill>
              </a:defRPr>
            </a:pPr>
            <a:r>
              <a:rPr sz="1500" b="0">
                <a:solidFill>
                  <a:srgbClr val="D2D2D2"/>
                </a:solidFill>
              </a:rPr>
              <a:t>LivingLLM maps a biological principle onto an LLM system: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AF8AF-B08D-4B7C-8DCC-3A2BF7AC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learn fast → consolidate selectively → wake with a stable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65530-99CD-4A61-8624-78DEBB14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28750"/>
            <a:ext cx="2190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D8E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02081-B25C-4E8F-B2A4-9A28A770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1460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7DD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69BEC-1FAE-47B7-8EEA-53624CAF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86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WAKE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227E1F-C31F-43F5-9B62-C2B256AC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813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SLEEP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85C49-447E-4D16-8ECF-3BE72B5D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575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0B58B-4265-4F37-999F-20AC043C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Next proof 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6425A4-9205-4C58-ADBA-759200FE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734050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Show that sleep reduces forgetting while preserving plasticity.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1845A-D427-4AD3-8D36-F849858B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BCC4"/>
                </a:solidFill>
              </a:defRPr>
            </a:pPr>
            <a:r>
              <a:rPr sz="900" b="1">
                <a:solidFill>
                  <a:srgbClr val="B8BCC4"/>
                </a:solidFill>
              </a:rPr>
              <a:t>09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AB558-F38A-478B-8715-56881BF5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8BCC4"/>
                </a:solidFill>
              </a:defRPr>
            </a:pPr>
            <a:r>
              <a:rPr sz="900" b="1">
                <a:solidFill>
                  <a:srgbClr val="B8BCC4"/>
                </a:solidFill>
              </a:rPr>
              <a:t>LIVINGLLM / SYNAPTIC CONSOLIDATION</a:t>
            </a:r>
          </a:p>
        </p:txBody>
      </p:sp>
    </p:spTree>
    <p:extLst>
      <p:ext uri="{BB962C8B-B14F-4D97-AF65-F5344CB8AC3E}">
        <p14:creationId xmlns:p14="http://schemas.microsoft.com/office/powerpoint/2010/main" val="10131519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2026-07-23T08:17:46.3050000Z</dcterms:created>
  <dcterms:modified xsi:type="dcterms:W3CDTF">2026-07-23T08:17:46.3050000Z</dcterms:modified>
</coreProperties>
</file>